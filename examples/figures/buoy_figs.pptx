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7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E3DE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>
        <p:scale>
          <a:sx n="50" d="100"/>
          <a:sy n="50" d="100"/>
        </p:scale>
        <p:origin x="484" y="40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D441D0D-4B61-543C-3CCE-542219D0D2D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0B6B61F-A0D9-273C-FD3D-0DC6E12059B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A564331-AD17-CD5D-CBDB-E99ED6923DA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2C0E32-8B5F-44E0-AC5A-962A6753DD5E}" type="datetimeFigureOut">
              <a:rPr lang="en-US" smtClean="0"/>
              <a:t>7/30/2026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4666BC1-2F6B-2FAA-820F-BB7FFAD2BA5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B5B27AC-E9FB-ADCD-8DFD-42E915727D2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17E007-4531-4A00-8CF2-B2D79F8EDB4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5610641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5BF3B39-D629-AEFB-300C-04B91B477D0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9C5E3F6-1028-DB44-1133-2755DF3EDA5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3D3C349-D717-D959-648A-5C0E4253F40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2C0E32-8B5F-44E0-AC5A-962A6753DD5E}" type="datetimeFigureOut">
              <a:rPr lang="en-US" smtClean="0"/>
              <a:t>7/30/2026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1CD9E30-775A-9028-E6DC-6372C955BE2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A44917A-0395-FCC1-153E-C5A39636D88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17E007-4531-4A00-8CF2-B2D79F8EDB4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3381136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F7AA732-EAD6-3DCE-A413-9BBA26B1817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B882310-C4A5-8EAC-C69B-8D10F8D6311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48A02AE-1EF2-49C6-14CB-87C229DF294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2C0E32-8B5F-44E0-AC5A-962A6753DD5E}" type="datetimeFigureOut">
              <a:rPr lang="en-US" smtClean="0"/>
              <a:t>7/30/2026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22E4807-E46F-5675-FDFD-ACF663AE725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285CA7C-608B-8B46-7BBA-132937ED60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17E007-4531-4A00-8CF2-B2D79F8EDB4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8422112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92EB243-7110-C35C-B734-5DCF8541F6A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B0E94E3-924E-866D-35CE-76CB7435647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494C2B5-64EF-655C-C998-D3952B1F2BB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18EDA4F-0C07-DB1F-B1BD-16573DF2BB5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2C0E32-8B5F-44E0-AC5A-962A6753DD5E}" type="datetimeFigureOut">
              <a:rPr lang="en-US" smtClean="0"/>
              <a:t>7/30/2026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57C68A6-A80C-223B-C14D-B30BEB6280D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BE726AE-FBAC-2CE4-8447-9A00F8BCFA5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17E007-4531-4A00-8CF2-B2D79F8EDB4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526590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17FA197-7EFB-203A-EC6A-118523B2100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E8F8924-7A5D-77E2-B176-26B23A76496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2CF923D-2B1F-57CC-53BB-8AC95FD3073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D9D3FA59-4841-1249-9709-40D93206F610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B5A78A47-FFFD-AC69-7C13-C3389730056C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BA241092-306E-37AF-3F1B-166C9F200B8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2C0E32-8B5F-44E0-AC5A-962A6753DD5E}" type="datetimeFigureOut">
              <a:rPr lang="en-US" smtClean="0"/>
              <a:t>7/30/2026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B7FE0B9B-10AC-1971-DCF4-3861C8ED451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81184B89-0AB8-57FA-FC14-FCD220523BD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17E007-4531-4A00-8CF2-B2D79F8EDB4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6108806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9627FCC-3B2B-3F73-709F-BDC1C38A567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4CC2CE0F-FF35-E0EF-2E1C-6BA718E8A19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2C0E32-8B5F-44E0-AC5A-962A6753DD5E}" type="datetimeFigureOut">
              <a:rPr lang="en-US" smtClean="0"/>
              <a:t>7/30/2026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BE13A96-9447-B01F-E1AE-0DD153DA101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E16F42A-3341-79D9-0B36-2DFE5DD37D8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17E007-4531-4A00-8CF2-B2D79F8EDB4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0418616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FE83EFDE-44C6-2D81-CDC6-0BC154260A4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2C0E32-8B5F-44E0-AC5A-962A6753DD5E}" type="datetimeFigureOut">
              <a:rPr lang="en-US" smtClean="0"/>
              <a:t>7/30/2026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B93AEF06-F333-E159-2D50-E8CF92B93C7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B05A6CB-BA4E-6FBA-AA41-74CC572556D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17E007-4531-4A00-8CF2-B2D79F8EDB4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1509837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4C6E470-98F9-C76E-8170-FF683BAB191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2D0958A-8DF9-D527-87BB-E2603592742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79077C0-7F84-832F-351A-6F33A6D141A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2C93F00-C35F-F2B4-8349-5A4E7C92BE2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2C0E32-8B5F-44E0-AC5A-962A6753DD5E}" type="datetimeFigureOut">
              <a:rPr lang="en-US" smtClean="0"/>
              <a:t>7/30/2026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721653C-0BC8-708A-3021-48366752DA9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30F08CD-8EA9-BD57-AAE4-443DCA97A18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17E007-4531-4A00-8CF2-B2D79F8EDB4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7121151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24352B2-A251-2909-D224-66C30BB7D97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75973616-A570-2235-4DC8-5FCF21001463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41F01C3-7461-3468-7DA6-E7FB80908B9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A1A9326-65C7-D31C-85DD-DC0726724E2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2C0E32-8B5F-44E0-AC5A-962A6753DD5E}" type="datetimeFigureOut">
              <a:rPr lang="en-US" smtClean="0"/>
              <a:t>7/30/2026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6C1A313-2960-A299-3781-261A7AD0607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E9D66C7-63E4-EA7B-90AC-46685BF3330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17E007-4531-4A00-8CF2-B2D79F8EDB4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4161734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7AE3D4C-4389-34C1-1191-62D48943719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7BC208F-5B4A-7E8A-EAB1-8FD0228713A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416DC4F-4E52-B723-24EA-5684E0FB0A7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2C0E32-8B5F-44E0-AC5A-962A6753DD5E}" type="datetimeFigureOut">
              <a:rPr lang="en-US" smtClean="0"/>
              <a:t>7/30/2026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091050B-0319-034E-0C8B-AE450D5FE45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23B938B-1B3D-E157-8166-9136F03ABDB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17E007-4531-4A00-8CF2-B2D79F8EDB4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4499685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77E608EB-B096-6FA8-B9C2-B792F6060596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213A3101-410F-F2AA-3632-A66CDA9BA91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C1EDC84-E0DE-9122-0447-4D7770A8503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2C0E32-8B5F-44E0-AC5A-962A6753DD5E}" type="datetimeFigureOut">
              <a:rPr lang="en-US" smtClean="0"/>
              <a:t>7/30/2026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9128804-04B9-EDCC-59B5-E01E02ED438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6FD9898-1778-AAFA-F5F4-7DFC237CEAB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17E007-4531-4A00-8CF2-B2D79F8EDB4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3324205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116B4002-94B4-86CB-CABE-FCD35E33EDA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9FA6DB8-0CA8-BB90-ECF5-070628C35E1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8218554-3F28-BB2B-57CD-D9BF67E6236B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C72C0E32-8B5F-44E0-AC5A-962A6753DD5E}" type="datetimeFigureOut">
              <a:rPr lang="en-US" smtClean="0"/>
              <a:t>7/30/2026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95288EC-8CA9-5D98-EDC2-AE834E464A2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E5BCD3B-32F2-70ED-73CE-E794D2092BD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B17E007-4531-4A00-8CF2-B2D79F8EDB4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0839783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9" name="Group 58">
            <a:extLst>
              <a:ext uri="{FF2B5EF4-FFF2-40B4-BE49-F238E27FC236}">
                <a16:creationId xmlns:a16="http://schemas.microsoft.com/office/drawing/2014/main" id="{A9527C32-083F-7875-119D-E43EA45885AC}"/>
              </a:ext>
            </a:extLst>
          </p:cNvPr>
          <p:cNvGrpSpPr/>
          <p:nvPr/>
        </p:nvGrpSpPr>
        <p:grpSpPr>
          <a:xfrm>
            <a:off x="1421176" y="2104222"/>
            <a:ext cx="3214041" cy="3296797"/>
            <a:chOff x="1421176" y="2104222"/>
            <a:chExt cx="3214041" cy="3296797"/>
          </a:xfrm>
        </p:grpSpPr>
        <p:sp>
          <p:nvSpPr>
            <p:cNvPr id="5" name="Oval 4">
              <a:extLst>
                <a:ext uri="{FF2B5EF4-FFF2-40B4-BE49-F238E27FC236}">
                  <a16:creationId xmlns:a16="http://schemas.microsoft.com/office/drawing/2014/main" id="{B10F5F57-632A-3495-7234-F756CA705A97}"/>
                </a:ext>
              </a:extLst>
            </p:cNvPr>
            <p:cNvSpPr/>
            <p:nvPr/>
          </p:nvSpPr>
          <p:spPr>
            <a:xfrm>
              <a:off x="1421176" y="2104222"/>
              <a:ext cx="3214041" cy="3296797"/>
            </a:xfrm>
            <a:prstGeom prst="ellipse">
              <a:avLst/>
            </a:prstGeom>
            <a:solidFill>
              <a:srgbClr val="E3DE00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pic>
          <p:nvPicPr>
            <p:cNvPr id="13" name="Picture 2" descr="Crystalline Silicon Photovoltaics Research | Department of Energy">
              <a:extLst>
                <a:ext uri="{FF2B5EF4-FFF2-40B4-BE49-F238E27FC236}">
                  <a16:creationId xmlns:a16="http://schemas.microsoft.com/office/drawing/2014/main" id="{D10EDBDC-1129-B68A-AFF0-E1E7EC42B6FD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4228" t="10079" r="3054" b="8752"/>
            <a:stretch>
              <a:fillRect/>
            </a:stretch>
          </p:blipFill>
          <p:spPr bwMode="auto">
            <a:xfrm>
              <a:off x="2329344" y="4527962"/>
              <a:ext cx="1397700" cy="625731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14" name="Rectangle 13">
              <a:extLst>
                <a:ext uri="{FF2B5EF4-FFF2-40B4-BE49-F238E27FC236}">
                  <a16:creationId xmlns:a16="http://schemas.microsoft.com/office/drawing/2014/main" id="{099DFD25-4E2D-AE27-1617-47B23957CE73}"/>
                </a:ext>
              </a:extLst>
            </p:cNvPr>
            <p:cNvSpPr/>
            <p:nvPr/>
          </p:nvSpPr>
          <p:spPr>
            <a:xfrm>
              <a:off x="1830767" y="2748526"/>
              <a:ext cx="2394857" cy="2008188"/>
            </a:xfrm>
            <a:prstGeom prst="rect">
              <a:avLst/>
            </a:prstGeom>
            <a:solidFill>
              <a:schemeClr val="bg2">
                <a:alpha val="80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</a:rPr>
                <a:t>Obstacle</a:t>
              </a:r>
            </a:p>
          </p:txBody>
        </p:sp>
        <p:cxnSp>
          <p:nvCxnSpPr>
            <p:cNvPr id="21" name="Straight Connector 20">
              <a:extLst>
                <a:ext uri="{FF2B5EF4-FFF2-40B4-BE49-F238E27FC236}">
                  <a16:creationId xmlns:a16="http://schemas.microsoft.com/office/drawing/2014/main" id="{50E17AE2-A348-3D42-81AF-69F15A18C595}"/>
                </a:ext>
              </a:extLst>
            </p:cNvPr>
            <p:cNvCxnSpPr>
              <a:cxnSpLocks/>
            </p:cNvCxnSpPr>
            <p:nvPr/>
          </p:nvCxnSpPr>
          <p:spPr>
            <a:xfrm>
              <a:off x="3028194" y="2505843"/>
              <a:ext cx="0" cy="1293703"/>
            </a:xfrm>
            <a:prstGeom prst="line">
              <a:avLst/>
            </a:prstGeom>
            <a:ln>
              <a:solidFill>
                <a:schemeClr val="tx1"/>
              </a:solidFill>
              <a:prstDash val="dash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8" name="Arc 27">
              <a:extLst>
                <a:ext uri="{FF2B5EF4-FFF2-40B4-BE49-F238E27FC236}">
                  <a16:creationId xmlns:a16="http://schemas.microsoft.com/office/drawing/2014/main" id="{15D2DC48-7980-A3DF-FAD6-7F00DBD3AB8D}"/>
                </a:ext>
              </a:extLst>
            </p:cNvPr>
            <p:cNvSpPr/>
            <p:nvPr/>
          </p:nvSpPr>
          <p:spPr>
            <a:xfrm>
              <a:off x="2252498" y="2997546"/>
              <a:ext cx="1551393" cy="1530417"/>
            </a:xfrm>
            <a:prstGeom prst="arc">
              <a:avLst>
                <a:gd name="adj1" fmla="val 16200000"/>
                <a:gd name="adj2" fmla="val 5423251"/>
              </a:avLst>
            </a:prstGeom>
            <a:ln>
              <a:solidFill>
                <a:schemeClr val="tx1"/>
              </a:solidFill>
              <a:prstDash val="dash"/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mc:AlternateContent xmlns:mc="http://schemas.openxmlformats.org/markup-compatibility/2006">
          <mc:Choice xmlns:a14="http://schemas.microsoft.com/office/drawing/2010/main" Requires="a14">
            <p:sp>
              <p:nvSpPr>
                <p:cNvPr id="29" name="TextBox 28">
                  <a:extLst>
                    <a:ext uri="{FF2B5EF4-FFF2-40B4-BE49-F238E27FC236}">
                      <a16:creationId xmlns:a16="http://schemas.microsoft.com/office/drawing/2014/main" id="{F54B93E1-66B5-32D1-1C6A-EFDDE6CF2C95}"/>
                    </a:ext>
                  </a:extLst>
                </p:cNvPr>
                <p:cNvSpPr txBox="1"/>
                <p:nvPr/>
              </p:nvSpPr>
              <p:spPr>
                <a:xfrm>
                  <a:off x="3673061" y="3614880"/>
                  <a:ext cx="683394" cy="369332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𝜃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𝐴</m:t>
                            </m:r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0</m:t>
                            </m:r>
                          </m:sub>
                        </m:sSub>
                      </m:oMath>
                    </m:oMathPara>
                  </a14:m>
                  <a:endParaRPr lang="en-US" dirty="0"/>
                </a:p>
              </p:txBody>
            </p:sp>
          </mc:Choice>
          <mc:Fallback>
            <p:sp>
              <p:nvSpPr>
                <p:cNvPr id="29" name="TextBox 28">
                  <a:extLst>
                    <a:ext uri="{FF2B5EF4-FFF2-40B4-BE49-F238E27FC236}">
                      <a16:creationId xmlns:a16="http://schemas.microsoft.com/office/drawing/2014/main" id="{F54B93E1-66B5-32D1-1C6A-EFDDE6CF2C95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673061" y="3614880"/>
                  <a:ext cx="683394" cy="369332"/>
                </a:xfrm>
                <a:prstGeom prst="rect">
                  <a:avLst/>
                </a:prstGeom>
                <a:blipFill>
                  <a:blip r:embed="rId3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32" name="Straight Connector 31">
              <a:extLst>
                <a:ext uri="{FF2B5EF4-FFF2-40B4-BE49-F238E27FC236}">
                  <a16:creationId xmlns:a16="http://schemas.microsoft.com/office/drawing/2014/main" id="{DBF9BD32-835D-19F9-8C74-518E353F28D8}"/>
                </a:ext>
              </a:extLst>
            </p:cNvPr>
            <p:cNvCxnSpPr>
              <a:cxnSpLocks/>
            </p:cNvCxnSpPr>
            <p:nvPr/>
          </p:nvCxnSpPr>
          <p:spPr>
            <a:xfrm>
              <a:off x="3028194" y="3839852"/>
              <a:ext cx="0" cy="1102737"/>
            </a:xfrm>
            <a:prstGeom prst="line">
              <a:avLst/>
            </a:prstGeom>
            <a:ln>
              <a:solidFill>
                <a:schemeClr val="tx1"/>
              </a:solidFill>
              <a:prstDash val="dash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63" name="Group 62">
            <a:extLst>
              <a:ext uri="{FF2B5EF4-FFF2-40B4-BE49-F238E27FC236}">
                <a16:creationId xmlns:a16="http://schemas.microsoft.com/office/drawing/2014/main" id="{53441E60-C859-4E58-3808-DDBCDFC23AAF}"/>
              </a:ext>
            </a:extLst>
          </p:cNvPr>
          <p:cNvGrpSpPr/>
          <p:nvPr/>
        </p:nvGrpSpPr>
        <p:grpSpPr>
          <a:xfrm>
            <a:off x="5324130" y="427892"/>
            <a:ext cx="5927764" cy="5139308"/>
            <a:chOff x="5324130" y="427892"/>
            <a:chExt cx="5927764" cy="5139308"/>
          </a:xfrm>
        </p:grpSpPr>
        <p:grpSp>
          <p:nvGrpSpPr>
            <p:cNvPr id="60" name="Group 59">
              <a:extLst>
                <a:ext uri="{FF2B5EF4-FFF2-40B4-BE49-F238E27FC236}">
                  <a16:creationId xmlns:a16="http://schemas.microsoft.com/office/drawing/2014/main" id="{FC96FFCF-2FB3-8B18-191F-2F6760CE8332}"/>
                </a:ext>
              </a:extLst>
            </p:cNvPr>
            <p:cNvGrpSpPr/>
            <p:nvPr/>
          </p:nvGrpSpPr>
          <p:grpSpPr>
            <a:xfrm>
              <a:off x="5324130" y="427892"/>
              <a:ext cx="5229570" cy="5139308"/>
              <a:chOff x="6067702" y="261711"/>
              <a:chExt cx="5229570" cy="5139308"/>
            </a:xfrm>
          </p:grpSpPr>
          <p:sp>
            <p:nvSpPr>
              <p:cNvPr id="7" name="Rectangle 6">
                <a:extLst>
                  <a:ext uri="{FF2B5EF4-FFF2-40B4-BE49-F238E27FC236}">
                    <a16:creationId xmlns:a16="http://schemas.microsoft.com/office/drawing/2014/main" id="{98FF38A9-3F26-2282-E6F1-342022E21C27}"/>
                  </a:ext>
                </a:extLst>
              </p:cNvPr>
              <p:cNvSpPr/>
              <p:nvPr/>
            </p:nvSpPr>
            <p:spPr>
              <a:xfrm>
                <a:off x="6621138" y="3742981"/>
                <a:ext cx="3214042" cy="776689"/>
              </a:xfrm>
              <a:prstGeom prst="rect">
                <a:avLst/>
              </a:prstGeom>
              <a:solidFill>
                <a:srgbClr val="E3DE00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8" name="Rectangle 7">
                <a:extLst>
                  <a:ext uri="{FF2B5EF4-FFF2-40B4-BE49-F238E27FC236}">
                    <a16:creationId xmlns:a16="http://schemas.microsoft.com/office/drawing/2014/main" id="{4B884B81-FB45-4483-7A28-84BDBDA7146F}"/>
                  </a:ext>
                </a:extLst>
              </p:cNvPr>
              <p:cNvSpPr/>
              <p:nvPr/>
            </p:nvSpPr>
            <p:spPr>
              <a:xfrm>
                <a:off x="6621138" y="4519670"/>
                <a:ext cx="3214041" cy="370114"/>
              </a:xfrm>
              <a:prstGeom prst="rect">
                <a:avLst/>
              </a:prstGeom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9" name="Trapezoid 8">
                <a:extLst>
                  <a:ext uri="{FF2B5EF4-FFF2-40B4-BE49-F238E27FC236}">
                    <a16:creationId xmlns:a16="http://schemas.microsoft.com/office/drawing/2014/main" id="{3BAE7987-6B19-4D9B-68C5-748E1E37500A}"/>
                  </a:ext>
                </a:extLst>
              </p:cNvPr>
              <p:cNvSpPr/>
              <p:nvPr/>
            </p:nvSpPr>
            <p:spPr>
              <a:xfrm rot="10800000">
                <a:off x="6621137" y="4889783"/>
                <a:ext cx="3214042" cy="511236"/>
              </a:xfrm>
              <a:prstGeom prst="trapezoid">
                <a:avLst>
                  <a:gd name="adj" fmla="val 72409"/>
                </a:avLst>
              </a:prstGeom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cxnSp>
            <p:nvCxnSpPr>
              <p:cNvPr id="11" name="Straight Connector 10">
                <a:extLst>
                  <a:ext uri="{FF2B5EF4-FFF2-40B4-BE49-F238E27FC236}">
                    <a16:creationId xmlns:a16="http://schemas.microsoft.com/office/drawing/2014/main" id="{3AC5E83D-D610-515D-ECAA-7AD2A4F95FD2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6191872" y="4278086"/>
                <a:ext cx="5105400" cy="0"/>
              </a:xfrm>
              <a:prstGeom prst="line">
                <a:avLst/>
              </a:prstGeom>
              <a:ln w="57150"/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15" name="Rectangle 14">
                <a:extLst>
                  <a:ext uri="{FF2B5EF4-FFF2-40B4-BE49-F238E27FC236}">
                    <a16:creationId xmlns:a16="http://schemas.microsoft.com/office/drawing/2014/main" id="{C6961707-1466-FFA6-53DF-EF3240D2F8EC}"/>
                  </a:ext>
                </a:extLst>
              </p:cNvPr>
              <p:cNvSpPr/>
              <p:nvPr/>
            </p:nvSpPr>
            <p:spPr>
              <a:xfrm>
                <a:off x="7030729" y="261711"/>
                <a:ext cx="2394857" cy="2008188"/>
              </a:xfrm>
              <a:prstGeom prst="rect">
                <a:avLst/>
              </a:prstGeom>
              <a:solidFill>
                <a:schemeClr val="bg2">
                  <a:alpha val="80000"/>
                </a:schemeClr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>
                    <a:solidFill>
                      <a:schemeClr val="tx1"/>
                    </a:solidFill>
                  </a:rPr>
                  <a:t>Obstacle</a:t>
                </a:r>
              </a:p>
            </p:txBody>
          </p:sp>
          <p:pic>
            <p:nvPicPr>
              <p:cNvPr id="16" name="Picture 2" descr="Crystalline Silicon Photovoltaics Research | Department of Energy">
                <a:extLst>
                  <a:ext uri="{FF2B5EF4-FFF2-40B4-BE49-F238E27FC236}">
                    <a16:creationId xmlns:a16="http://schemas.microsoft.com/office/drawing/2014/main" id="{B7C6649C-3EF2-E536-D265-35687BA5461F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 rotWithShape="1">
              <a:blip r:embed="rId2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l="4228" t="10079" r="3054" b="8752"/>
              <a:stretch>
                <a:fillRect/>
              </a:stretch>
            </p:blipFill>
            <p:spPr bwMode="auto">
              <a:xfrm rot="3182710">
                <a:off x="6950019" y="2996178"/>
                <a:ext cx="401910" cy="787408"/>
              </a:xfrm>
              <a:prstGeom prst="rect">
                <a:avLst/>
              </a:prstGeom>
              <a:noFill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  <p:cxnSp>
            <p:nvCxnSpPr>
              <p:cNvPr id="30" name="Straight Connector 29">
                <a:extLst>
                  <a:ext uri="{FF2B5EF4-FFF2-40B4-BE49-F238E27FC236}">
                    <a16:creationId xmlns:a16="http://schemas.microsoft.com/office/drawing/2014/main" id="{6AC0F82A-266A-697D-242D-BCC4B2F8F658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7030729" y="3252052"/>
                <a:ext cx="636896" cy="484905"/>
              </a:xfrm>
              <a:prstGeom prst="line">
                <a:avLst/>
              </a:prstGeom>
              <a:ln>
                <a:solidFill>
                  <a:schemeClr val="tx1"/>
                </a:solidFill>
                <a:prstDash val="dash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5" name="Straight Connector 44">
                <a:extLst>
                  <a:ext uri="{FF2B5EF4-FFF2-40B4-BE49-F238E27FC236}">
                    <a16:creationId xmlns:a16="http://schemas.microsoft.com/office/drawing/2014/main" id="{B6AC428F-622B-2AA5-8B8D-75A62A18014B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7030729" y="3736957"/>
                <a:ext cx="703571" cy="0"/>
              </a:xfrm>
              <a:prstGeom prst="line">
                <a:avLst/>
              </a:prstGeom>
              <a:ln>
                <a:solidFill>
                  <a:schemeClr val="tx1"/>
                </a:solidFill>
                <a:prstDash val="dash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48" name="Arc 47">
                <a:extLst>
                  <a:ext uri="{FF2B5EF4-FFF2-40B4-BE49-F238E27FC236}">
                    <a16:creationId xmlns:a16="http://schemas.microsoft.com/office/drawing/2014/main" id="{166E5A87-2C19-561B-00A4-C1521A8A1DFD}"/>
                  </a:ext>
                </a:extLst>
              </p:cNvPr>
              <p:cNvSpPr/>
              <p:nvPr/>
            </p:nvSpPr>
            <p:spPr>
              <a:xfrm flipV="1">
                <a:off x="6067702" y="2909668"/>
                <a:ext cx="1551393" cy="1481552"/>
              </a:xfrm>
              <a:prstGeom prst="arc">
                <a:avLst>
                  <a:gd name="adj1" fmla="val 21295703"/>
                  <a:gd name="adj2" fmla="val 1337315"/>
                </a:avLst>
              </a:prstGeom>
              <a:ln>
                <a:solidFill>
                  <a:schemeClr val="tx1"/>
                </a:solidFill>
                <a:prstDash val="dash"/>
                <a:tailEnd type="triangle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mc:AlternateContent xmlns:mc="http://schemas.openxmlformats.org/markup-compatibility/2006">
            <mc:Choice xmlns:a14="http://schemas.microsoft.com/office/drawing/2010/main" Requires="a14">
              <p:sp>
                <p:nvSpPr>
                  <p:cNvPr id="52" name="TextBox 51">
                    <a:extLst>
                      <a:ext uri="{FF2B5EF4-FFF2-40B4-BE49-F238E27FC236}">
                        <a16:creationId xmlns:a16="http://schemas.microsoft.com/office/drawing/2014/main" id="{B5FB2DA0-DE67-D95F-8C82-3633A8144AAD}"/>
                      </a:ext>
                    </a:extLst>
                  </p:cNvPr>
                  <p:cNvSpPr txBox="1"/>
                  <p:nvPr/>
                </p:nvSpPr>
                <p:spPr>
                  <a:xfrm>
                    <a:off x="7586398" y="3326156"/>
                    <a:ext cx="560005" cy="369332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sSub>
                            <m:sSub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𝜃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𝑇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sub>
                          </m:sSub>
                        </m:oMath>
                      </m:oMathPara>
                    </a14:m>
                    <a:endParaRPr lang="en-US" dirty="0"/>
                  </a:p>
                </p:txBody>
              </p:sp>
            </mc:Choice>
            <mc:Fallback>
              <p:sp>
                <p:nvSpPr>
                  <p:cNvPr id="52" name="TextBox 51">
                    <a:extLst>
                      <a:ext uri="{FF2B5EF4-FFF2-40B4-BE49-F238E27FC236}">
                        <a16:creationId xmlns:a16="http://schemas.microsoft.com/office/drawing/2014/main" id="{B5FB2DA0-DE67-D95F-8C82-3633A8144AAD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7586398" y="3326156"/>
                    <a:ext cx="560005" cy="369332"/>
                  </a:xfrm>
                  <a:prstGeom prst="rect">
                    <a:avLst/>
                  </a:prstGeom>
                  <a:blipFill>
                    <a:blip r:embed="rId4"/>
                    <a:stretch>
                      <a:fillRect/>
                    </a:stretch>
                  </a:blipFill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</p:grpSp>
        <p:sp>
          <p:nvSpPr>
            <p:cNvPr id="61" name="TextBox 60">
              <a:extLst>
                <a:ext uri="{FF2B5EF4-FFF2-40B4-BE49-F238E27FC236}">
                  <a16:creationId xmlns:a16="http://schemas.microsoft.com/office/drawing/2014/main" id="{0BE245F1-48B7-7DF8-547B-CF3B3E963A9C}"/>
                </a:ext>
              </a:extLst>
            </p:cNvPr>
            <p:cNvSpPr txBox="1"/>
            <p:nvPr/>
          </p:nvSpPr>
          <p:spPr>
            <a:xfrm>
              <a:off x="9091607" y="4022217"/>
              <a:ext cx="2160287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/>
                <a:t>still water line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23686345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42</TotalTime>
  <Words>7</Words>
  <Application>Microsoft Office PowerPoint</Application>
  <PresentationFormat>Widescreen</PresentationFormat>
  <Paragraphs>5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6" baseType="lpstr">
      <vt:lpstr>Aptos</vt:lpstr>
      <vt:lpstr>Aptos Display</vt:lpstr>
      <vt:lpstr>Arial</vt:lpstr>
      <vt:lpstr>Cambria Math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Grasberger, Jeff Thomas</dc:creator>
  <cp:lastModifiedBy>Grasberger, Jeff Thomas</cp:lastModifiedBy>
  <cp:revision>1</cp:revision>
  <dcterms:created xsi:type="dcterms:W3CDTF">2026-07-30T19:37:35Z</dcterms:created>
  <dcterms:modified xsi:type="dcterms:W3CDTF">2026-07-30T20:19:41Z</dcterms:modified>
</cp:coreProperties>
</file>